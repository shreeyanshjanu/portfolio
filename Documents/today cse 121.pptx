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1" r:id="rId6"/>
  </p:sldIdLst>
  <p:sldSz cx="14630400" cy="8229600"/>
  <p:notesSz cx="8229600" cy="14630400"/>
  <p:embeddedFontLst>
    <p:embeddedFont>
      <p:font typeface="Syne" panose="020B0604020202020204" charset="0"/>
      <p:regular r:id="rId8"/>
    </p:embeddedFont>
    <p:embeddedFont>
      <p:font typeface="Syne Extra Bold"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413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tmp"/><Relationship Id="rId5" Type="http://schemas.openxmlformats.org/officeDocument/2006/relationships/image" Target="../media/image7.png"/><Relationship Id="rId4" Type="http://schemas.openxmlformats.org/officeDocument/2006/relationships/hyperlink" Target="https://www.geeksforgeeks.o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tmp"/><Relationship Id="rId4" Type="http://schemas.openxmlformats.org/officeDocument/2006/relationships/hyperlink" Target="https://leetcode.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8408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My Coding Portfolio</a:t>
            </a:r>
            <a:endParaRPr lang="en-US" sz="4450" dirty="0"/>
          </a:p>
        </p:txBody>
      </p:sp>
      <p:sp>
        <p:nvSpPr>
          <p:cNvPr id="4" name="Text 1"/>
          <p:cNvSpPr/>
          <p:nvPr/>
        </p:nvSpPr>
        <p:spPr>
          <a:xfrm>
            <a:off x="6280190" y="3941802"/>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A showcase of my coding achievements and skills, providing links to key profiles and projects. This portfolio demonstrates my passion for coding and my commitment to continuous learning. It is designed to highlight my expertise and attract potential collaborators.</a:t>
            </a:r>
            <a:endParaRPr lang="en-US" sz="1750" dirty="0"/>
          </a:p>
        </p:txBody>
      </p:sp>
      <p:sp>
        <p:nvSpPr>
          <p:cNvPr id="5" name="Shape 2"/>
          <p:cNvSpPr/>
          <p:nvPr/>
        </p:nvSpPr>
        <p:spPr>
          <a:xfrm>
            <a:off x="6280190" y="5665470"/>
            <a:ext cx="362903" cy="362903"/>
          </a:xfrm>
          <a:prstGeom prst="roundRect">
            <a:avLst>
              <a:gd name="adj" fmla="val 25194296"/>
            </a:avLst>
          </a:prstGeom>
          <a:noFill/>
          <a:ln w="7620">
            <a:solidFill>
              <a:srgbClr val="FFFFFF"/>
            </a:solidFill>
            <a:prstDash val="solid"/>
          </a:ln>
        </p:spPr>
      </p:sp>
      <p:pic>
        <p:nvPicPr>
          <p:cNvPr id="6" name="Image 1" descr="preencoded.png"/>
          <p:cNvPicPr>
            <a:picLocks noChangeAspect="1"/>
          </p:cNvPicPr>
          <p:nvPr/>
        </p:nvPicPr>
        <p:blipFill>
          <a:blip r:embed="rId4"/>
          <a:stretch>
            <a:fillRect/>
          </a:stretch>
        </p:blipFill>
        <p:spPr>
          <a:xfrm>
            <a:off x="6287810" y="5673090"/>
            <a:ext cx="347663" cy="347663"/>
          </a:xfrm>
          <a:prstGeom prst="rect">
            <a:avLst/>
          </a:prstGeom>
        </p:spPr>
      </p:pic>
      <p:sp>
        <p:nvSpPr>
          <p:cNvPr id="7" name="Text 3"/>
          <p:cNvSpPr/>
          <p:nvPr/>
        </p:nvSpPr>
        <p:spPr>
          <a:xfrm>
            <a:off x="6756440" y="5648563"/>
            <a:ext cx="2695456" cy="396835"/>
          </a:xfrm>
          <a:prstGeom prst="rect">
            <a:avLst/>
          </a:prstGeom>
          <a:noFill/>
          <a:ln/>
        </p:spPr>
        <p:txBody>
          <a:bodyPr wrap="none" lIns="0" tIns="0" rIns="0" bIns="0" rtlCol="0" anchor="t"/>
          <a:lstStyle/>
          <a:p>
            <a:pPr marL="0" indent="0" algn="l">
              <a:lnSpc>
                <a:spcPts val="3100"/>
              </a:lnSpc>
              <a:buNone/>
            </a:pPr>
            <a:r>
              <a:rPr lang="en-US" sz="2200" b="1" dirty="0">
                <a:solidFill>
                  <a:srgbClr val="D7E5D8"/>
                </a:solidFill>
                <a:latin typeface="Syne Bold" pitchFamily="34" charset="0"/>
                <a:ea typeface="Syne Bold" pitchFamily="34" charset="-122"/>
                <a:cs typeface="Syne Bold" pitchFamily="34" charset="-120"/>
              </a:rPr>
              <a:t>by shreeyansh janu</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6113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About Me</a:t>
            </a:r>
            <a:endParaRPr lang="en-US" sz="4450" dirty="0"/>
          </a:p>
        </p:txBody>
      </p:sp>
      <p:sp>
        <p:nvSpPr>
          <p:cNvPr id="4" name="Shape 1"/>
          <p:cNvSpPr/>
          <p:nvPr/>
        </p:nvSpPr>
        <p:spPr>
          <a:xfrm>
            <a:off x="6280190" y="2765227"/>
            <a:ext cx="510302" cy="510302"/>
          </a:xfrm>
          <a:prstGeom prst="roundRect">
            <a:avLst>
              <a:gd name="adj" fmla="val 18669"/>
            </a:avLst>
          </a:prstGeom>
          <a:solidFill>
            <a:srgbClr val="547808"/>
          </a:solidFill>
          <a:ln w="7620">
            <a:solidFill>
              <a:srgbClr val="6D9121"/>
            </a:solidFill>
            <a:prstDash val="solid"/>
          </a:ln>
        </p:spPr>
      </p:sp>
      <p:sp>
        <p:nvSpPr>
          <p:cNvPr id="5" name="Text 2"/>
          <p:cNvSpPr/>
          <p:nvPr/>
        </p:nvSpPr>
        <p:spPr>
          <a:xfrm>
            <a:off x="7017306" y="276522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Introduction</a:t>
            </a:r>
            <a:endParaRPr lang="en-US" sz="2200" dirty="0"/>
          </a:p>
        </p:txBody>
      </p:sp>
      <p:sp>
        <p:nvSpPr>
          <p:cNvPr id="6" name="Text 3"/>
          <p:cNvSpPr/>
          <p:nvPr/>
        </p:nvSpPr>
        <p:spPr>
          <a:xfrm>
            <a:off x="7017306" y="3255645"/>
            <a:ext cx="2927747" cy="1814513"/>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Driven computer science student with a passion for algorithm design, data structures, and cybersecurity</a:t>
            </a:r>
            <a:endParaRPr lang="en-US" sz="1750" dirty="0"/>
          </a:p>
        </p:txBody>
      </p:sp>
      <p:sp>
        <p:nvSpPr>
          <p:cNvPr id="7" name="Shape 4"/>
          <p:cNvSpPr/>
          <p:nvPr/>
        </p:nvSpPr>
        <p:spPr>
          <a:xfrm>
            <a:off x="10171867" y="2765227"/>
            <a:ext cx="510302" cy="510302"/>
          </a:xfrm>
          <a:prstGeom prst="roundRect">
            <a:avLst>
              <a:gd name="adj" fmla="val 18669"/>
            </a:avLst>
          </a:prstGeom>
          <a:solidFill>
            <a:srgbClr val="547808"/>
          </a:solidFill>
          <a:ln w="7620">
            <a:solidFill>
              <a:srgbClr val="6D9121"/>
            </a:solidFill>
            <a:prstDash val="solid"/>
          </a:ln>
        </p:spPr>
      </p:sp>
      <p:sp>
        <p:nvSpPr>
          <p:cNvPr id="8" name="Text 5"/>
          <p:cNvSpPr/>
          <p:nvPr/>
        </p:nvSpPr>
        <p:spPr>
          <a:xfrm>
            <a:off x="10908983" y="276522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Skills</a:t>
            </a:r>
            <a:endParaRPr lang="en-US" sz="2200" dirty="0"/>
          </a:p>
        </p:txBody>
      </p:sp>
      <p:sp>
        <p:nvSpPr>
          <p:cNvPr id="9" name="Text 6"/>
          <p:cNvSpPr/>
          <p:nvPr/>
        </p:nvSpPr>
        <p:spPr>
          <a:xfrm>
            <a:off x="10908983" y="3255645"/>
            <a:ext cx="2927747" cy="1088708"/>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Proficient in </a:t>
            </a:r>
            <a:r>
              <a:rPr lang="en-US" sz="1750" dirty="0" err="1">
                <a:solidFill>
                  <a:srgbClr val="D7E5D8"/>
                </a:solidFill>
                <a:latin typeface="Syne" pitchFamily="34" charset="0"/>
                <a:ea typeface="Syne" pitchFamily="34" charset="-122"/>
                <a:cs typeface="Syne" pitchFamily="34" charset="-120"/>
              </a:rPr>
              <a:t>c++</a:t>
            </a:r>
            <a:r>
              <a:rPr lang="en-US" sz="1750" dirty="0">
                <a:solidFill>
                  <a:srgbClr val="D7E5D8"/>
                </a:solidFill>
                <a:latin typeface="Syne" pitchFamily="34" charset="0"/>
                <a:ea typeface="Syne" pitchFamily="34" charset="-122"/>
                <a:cs typeface="Syne" pitchFamily="34" charset="-120"/>
              </a:rPr>
              <a:t>,data structure and </a:t>
            </a:r>
            <a:r>
              <a:rPr lang="en-US" sz="1750" dirty="0" err="1">
                <a:solidFill>
                  <a:srgbClr val="D7E5D8"/>
                </a:solidFill>
                <a:latin typeface="Syne" pitchFamily="34" charset="0"/>
                <a:ea typeface="Syne" pitchFamily="34" charset="-122"/>
                <a:cs typeface="Syne" pitchFamily="34" charset="-120"/>
              </a:rPr>
              <a:t>algorithim</a:t>
            </a:r>
            <a:endParaRPr lang="en-US" sz="1750" dirty="0"/>
          </a:p>
        </p:txBody>
      </p:sp>
      <p:sp>
        <p:nvSpPr>
          <p:cNvPr id="10" name="Shape 7"/>
          <p:cNvSpPr/>
          <p:nvPr/>
        </p:nvSpPr>
        <p:spPr>
          <a:xfrm>
            <a:off x="6280190" y="5552123"/>
            <a:ext cx="510302" cy="510302"/>
          </a:xfrm>
          <a:prstGeom prst="roundRect">
            <a:avLst>
              <a:gd name="adj" fmla="val 18669"/>
            </a:avLst>
          </a:prstGeom>
          <a:solidFill>
            <a:srgbClr val="547808"/>
          </a:solidFill>
          <a:ln w="7620">
            <a:solidFill>
              <a:srgbClr val="6D9121"/>
            </a:solidFill>
            <a:prstDash val="solid"/>
          </a:ln>
        </p:spPr>
      </p:sp>
      <p:sp>
        <p:nvSpPr>
          <p:cNvPr id="11" name="Text 8"/>
          <p:cNvSpPr/>
          <p:nvPr/>
        </p:nvSpPr>
        <p:spPr>
          <a:xfrm>
            <a:off x="7017306" y="555212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Passion</a:t>
            </a:r>
            <a:endParaRPr lang="en-US" sz="2200" dirty="0"/>
          </a:p>
        </p:txBody>
      </p:sp>
      <p:sp>
        <p:nvSpPr>
          <p:cNvPr id="12" name="Text 9"/>
          <p:cNvSpPr/>
          <p:nvPr/>
        </p:nvSpPr>
        <p:spPr>
          <a:xfrm>
            <a:off x="7017306" y="6042541"/>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Dedicated to problem-solving and continuous learning in the field of computer science.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8186856" y="229963"/>
            <a:ext cx="7732157" cy="1260872"/>
          </a:xfrm>
          <a:prstGeom prst="rect">
            <a:avLst/>
          </a:prstGeom>
          <a:noFill/>
          <a:ln/>
        </p:spPr>
        <p:txBody>
          <a:bodyPr wrap="square" lIns="0" tIns="0" rIns="0" bIns="0" rtlCol="0" anchor="t"/>
          <a:lstStyle/>
          <a:p>
            <a:pPr marL="0" indent="0" algn="l">
              <a:lnSpc>
                <a:spcPts val="4950"/>
              </a:lnSpc>
              <a:buNone/>
            </a:pPr>
            <a:r>
              <a:rPr lang="en-US" sz="3950" b="1" dirty="0">
                <a:solidFill>
                  <a:srgbClr val="F0F4F1"/>
                </a:solidFill>
                <a:latin typeface="Syne Extra Bold" pitchFamily="34" charset="0"/>
                <a:ea typeface="Syne Extra Bold" pitchFamily="34" charset="-122"/>
                <a:cs typeface="Syne Extra Bold" pitchFamily="34" charset="-120"/>
              </a:rPr>
              <a:t>GeeksforGeeks Profile</a:t>
            </a:r>
            <a:endParaRPr lang="en-US" sz="3950" dirty="0"/>
          </a:p>
        </p:txBody>
      </p:sp>
      <p:pic>
        <p:nvPicPr>
          <p:cNvPr id="4" name="Image 1" descr="preencoded.png"/>
          <p:cNvPicPr>
            <a:picLocks noChangeAspect="1"/>
          </p:cNvPicPr>
          <p:nvPr/>
        </p:nvPicPr>
        <p:blipFill>
          <a:blip r:embed="rId3"/>
          <a:stretch>
            <a:fillRect/>
          </a:stretch>
        </p:blipFill>
        <p:spPr>
          <a:xfrm>
            <a:off x="10364071" y="2054152"/>
            <a:ext cx="504230" cy="504230"/>
          </a:xfrm>
          <a:prstGeom prst="rect">
            <a:avLst/>
          </a:prstGeom>
        </p:spPr>
      </p:pic>
      <p:sp>
        <p:nvSpPr>
          <p:cNvPr id="5" name="Text 1"/>
          <p:cNvSpPr/>
          <p:nvPr/>
        </p:nvSpPr>
        <p:spPr>
          <a:xfrm>
            <a:off x="9787576" y="2637201"/>
            <a:ext cx="2375654" cy="315158"/>
          </a:xfrm>
          <a:prstGeom prst="rect">
            <a:avLst/>
          </a:prstGeom>
          <a:noFill/>
          <a:ln/>
        </p:spPr>
        <p:txBody>
          <a:bodyPr wrap="none" lIns="0" tIns="0" rIns="0" bIns="0" rtlCol="0" anchor="t"/>
          <a:lstStyle/>
          <a:p>
            <a:pPr marL="0" indent="0" algn="l">
              <a:lnSpc>
                <a:spcPts val="2450"/>
              </a:lnSpc>
              <a:buNone/>
            </a:pPr>
            <a:r>
              <a:rPr lang="en-US" sz="1950" b="1" u="sng" dirty="0">
                <a:solidFill>
                  <a:srgbClr val="A9F00F"/>
                </a:solidFill>
                <a:latin typeface="Syne Extra Bold" pitchFamily="34" charset="0"/>
                <a:ea typeface="Syne Extra Bold" pitchFamily="34" charset="-122"/>
                <a:cs typeface="Syne Extra Bold" pitchFamily="34" charset="-120"/>
                <a:hlinkClick r:id="rId4">
                  <a:extLst>
                    <a:ext uri="{A12FA001-AC4F-418D-AE19-62706E023703}">
                      <ahyp:hlinkClr xmlns:ahyp="http://schemas.microsoft.com/office/drawing/2018/hyperlinkcolor" val="tx"/>
                    </a:ext>
                  </a:extLst>
                </a:hlinkClick>
              </a:rPr>
              <a:t>GFG Profile</a:t>
            </a:r>
            <a:endParaRPr lang="en-US" sz="1950" dirty="0"/>
          </a:p>
        </p:txBody>
      </p:sp>
      <p:sp>
        <p:nvSpPr>
          <p:cNvPr id="6" name="Text 2"/>
          <p:cNvSpPr/>
          <p:nvPr/>
        </p:nvSpPr>
        <p:spPr>
          <a:xfrm>
            <a:off x="9537594" y="3010677"/>
            <a:ext cx="2375654" cy="645319"/>
          </a:xfrm>
          <a:prstGeom prst="rect">
            <a:avLst/>
          </a:prstGeom>
          <a:noFill/>
          <a:ln/>
        </p:spPr>
        <p:txBody>
          <a:bodyPr wrap="square" lIns="0" tIns="0" rIns="0" bIns="0" rtlCol="0" anchor="t"/>
          <a:lstStyle/>
          <a:p>
            <a:pPr marL="0" indent="0" algn="l">
              <a:lnSpc>
                <a:spcPts val="2500"/>
              </a:lnSpc>
              <a:buNone/>
            </a:pPr>
            <a:r>
              <a:rPr lang="en-US" sz="1550" dirty="0">
                <a:solidFill>
                  <a:schemeClr val="bg1"/>
                </a:solidFill>
              </a:rPr>
              <a:t>https://www.geeksforgeeks.org/user/arthurmorl99c/</a:t>
            </a:r>
          </a:p>
        </p:txBody>
      </p:sp>
      <p:sp>
        <p:nvSpPr>
          <p:cNvPr id="8" name="Text 3"/>
          <p:cNvSpPr/>
          <p:nvPr/>
        </p:nvSpPr>
        <p:spPr>
          <a:xfrm>
            <a:off x="8870513" y="2874645"/>
            <a:ext cx="2375654" cy="630317"/>
          </a:xfrm>
          <a:prstGeom prst="rect">
            <a:avLst/>
          </a:prstGeom>
          <a:noFill/>
          <a:ln/>
        </p:spPr>
        <p:txBody>
          <a:bodyPr wrap="square" lIns="0" tIns="0" rIns="0" bIns="0" rtlCol="0" anchor="t"/>
          <a:lstStyle/>
          <a:p>
            <a:pPr marL="0" indent="0" algn="l">
              <a:lnSpc>
                <a:spcPts val="2450"/>
              </a:lnSpc>
              <a:buNone/>
            </a:pPr>
            <a:endParaRPr lang="en-US" sz="1950" dirty="0"/>
          </a:p>
        </p:txBody>
      </p:sp>
      <p:sp>
        <p:nvSpPr>
          <p:cNvPr id="9" name="Text 4"/>
          <p:cNvSpPr/>
          <p:nvPr/>
        </p:nvSpPr>
        <p:spPr>
          <a:xfrm>
            <a:off x="8870513" y="3625929"/>
            <a:ext cx="2375654" cy="967978"/>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11" name="Text 5"/>
          <p:cNvSpPr/>
          <p:nvPr/>
        </p:nvSpPr>
        <p:spPr>
          <a:xfrm>
            <a:off x="13125081" y="3018179"/>
            <a:ext cx="2375654" cy="630317"/>
          </a:xfrm>
          <a:prstGeom prst="rect">
            <a:avLst/>
          </a:prstGeom>
          <a:noFill/>
          <a:ln/>
        </p:spPr>
        <p:txBody>
          <a:bodyPr wrap="square" lIns="0" tIns="0" rIns="0" bIns="0" rtlCol="0" anchor="t"/>
          <a:lstStyle/>
          <a:p>
            <a:pPr marL="0" indent="0" algn="l">
              <a:lnSpc>
                <a:spcPts val="2450"/>
              </a:lnSpc>
              <a:buNone/>
            </a:pPr>
            <a:endParaRPr lang="en-US" sz="1950" dirty="0"/>
          </a:p>
        </p:txBody>
      </p:sp>
      <p:sp>
        <p:nvSpPr>
          <p:cNvPr id="12" name="Text 6"/>
          <p:cNvSpPr/>
          <p:nvPr/>
        </p:nvSpPr>
        <p:spPr>
          <a:xfrm>
            <a:off x="11548705" y="3625929"/>
            <a:ext cx="2375654" cy="967978"/>
          </a:xfrm>
          <a:prstGeom prst="rect">
            <a:avLst/>
          </a:prstGeom>
          <a:noFill/>
          <a:ln/>
        </p:spPr>
        <p:txBody>
          <a:bodyPr wrap="square" lIns="0" tIns="0" rIns="0" bIns="0" rtlCol="0" anchor="t"/>
          <a:lstStyle/>
          <a:p>
            <a:pPr marL="0" indent="0" algn="l">
              <a:lnSpc>
                <a:spcPts val="2500"/>
              </a:lnSpc>
              <a:buNone/>
            </a:pPr>
            <a:endParaRPr lang="en-US" sz="1550" dirty="0"/>
          </a:p>
        </p:txBody>
      </p:sp>
      <p:pic>
        <p:nvPicPr>
          <p:cNvPr id="13" name="Image 4" descr="preencoded.png"/>
          <p:cNvPicPr>
            <a:picLocks noChangeAspect="1"/>
          </p:cNvPicPr>
          <p:nvPr/>
        </p:nvPicPr>
        <p:blipFill>
          <a:blip r:embed="rId5"/>
          <a:stretch>
            <a:fillRect/>
          </a:stretch>
        </p:blipFill>
        <p:spPr>
          <a:xfrm>
            <a:off x="13672244" y="1951162"/>
            <a:ext cx="504230" cy="504230"/>
          </a:xfrm>
          <a:prstGeom prst="rect">
            <a:avLst/>
          </a:prstGeom>
        </p:spPr>
      </p:pic>
      <p:sp>
        <p:nvSpPr>
          <p:cNvPr id="14" name="Text 7"/>
          <p:cNvSpPr/>
          <p:nvPr/>
        </p:nvSpPr>
        <p:spPr>
          <a:xfrm>
            <a:off x="12254746" y="2668287"/>
            <a:ext cx="2375654" cy="630317"/>
          </a:xfrm>
          <a:prstGeom prst="rect">
            <a:avLst/>
          </a:prstGeom>
          <a:noFill/>
          <a:ln/>
        </p:spPr>
        <p:txBody>
          <a:bodyPr wrap="square" lIns="0" tIns="0" rIns="0" bIns="0" rtlCol="0" anchor="t"/>
          <a:lstStyle/>
          <a:p>
            <a:pPr marL="0" indent="0" algn="l">
              <a:lnSpc>
                <a:spcPts val="2450"/>
              </a:lnSpc>
              <a:buNone/>
            </a:pPr>
            <a:r>
              <a:rPr lang="en-US" sz="1950" b="1" dirty="0">
                <a:solidFill>
                  <a:srgbClr val="D7E5D8"/>
                </a:solidFill>
                <a:latin typeface="Syne Extra Bold" pitchFamily="34" charset="0"/>
                <a:ea typeface="Syne Extra Bold" pitchFamily="34" charset="-122"/>
                <a:cs typeface="Syne Extra Bold" pitchFamily="34" charset="-120"/>
              </a:rPr>
              <a:t>Problems Solved</a:t>
            </a:r>
            <a:endParaRPr lang="en-US" sz="1950" dirty="0"/>
          </a:p>
        </p:txBody>
      </p:sp>
      <p:sp>
        <p:nvSpPr>
          <p:cNvPr id="15" name="Text 8"/>
          <p:cNvSpPr/>
          <p:nvPr/>
        </p:nvSpPr>
        <p:spPr>
          <a:xfrm>
            <a:off x="12254746" y="3141940"/>
            <a:ext cx="2375654" cy="967978"/>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Demonstrated proficiency in solving complex coding problems.</a:t>
            </a:r>
            <a:endParaRPr lang="en-US" sz="1550" dirty="0"/>
          </a:p>
        </p:txBody>
      </p:sp>
      <p:pic>
        <p:nvPicPr>
          <p:cNvPr id="17" name="Picture 16">
            <a:extLst>
              <a:ext uri="{FF2B5EF4-FFF2-40B4-BE49-F238E27FC236}">
                <a16:creationId xmlns:a16="http://schemas.microsoft.com/office/drawing/2014/main" id="{2929D05A-24BB-97C2-84DE-9738825F8063}"/>
              </a:ext>
            </a:extLst>
          </p:cNvPr>
          <p:cNvPicPr>
            <a:picLocks noChangeAspect="1"/>
          </p:cNvPicPr>
          <p:nvPr/>
        </p:nvPicPr>
        <p:blipFill>
          <a:blip r:embed="rId6"/>
          <a:stretch>
            <a:fillRect/>
          </a:stretch>
        </p:blipFill>
        <p:spPr>
          <a:xfrm>
            <a:off x="0" y="0"/>
            <a:ext cx="8203432" cy="822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0" y="497206"/>
            <a:ext cx="7152442" cy="666274"/>
          </a:xfrm>
          <a:prstGeom prst="rect">
            <a:avLst/>
          </a:prstGeom>
          <a:noFill/>
          <a:ln/>
        </p:spPr>
        <p:txBody>
          <a:bodyPr wrap="none" lIns="0" tIns="0" rIns="0" bIns="0" rtlCol="0" anchor="t"/>
          <a:lstStyle/>
          <a:p>
            <a:pPr marL="0" indent="0" algn="l">
              <a:lnSpc>
                <a:spcPts val="5200"/>
              </a:lnSpc>
              <a:buNone/>
            </a:pPr>
            <a:r>
              <a:rPr lang="en-US" sz="4150" b="1" dirty="0">
                <a:solidFill>
                  <a:srgbClr val="F0F4F1"/>
                </a:solidFill>
                <a:latin typeface="Syne Extra Bold" pitchFamily="34" charset="0"/>
                <a:ea typeface="Syne Extra Bold" pitchFamily="34" charset="-122"/>
                <a:cs typeface="Syne Extra Bold" pitchFamily="34" charset="-120"/>
              </a:rPr>
              <a:t>LeetCode Profile</a:t>
            </a:r>
            <a:endParaRPr lang="en-US" sz="4150" dirty="0"/>
          </a:p>
        </p:txBody>
      </p:sp>
      <p:pic>
        <p:nvPicPr>
          <p:cNvPr id="4" name="Image 1" descr="preencoded.png"/>
          <p:cNvPicPr>
            <a:picLocks noChangeAspect="1"/>
          </p:cNvPicPr>
          <p:nvPr/>
        </p:nvPicPr>
        <p:blipFill>
          <a:blip r:embed="rId3"/>
          <a:stretch>
            <a:fillRect/>
          </a:stretch>
        </p:blipFill>
        <p:spPr>
          <a:xfrm>
            <a:off x="0" y="1810822"/>
            <a:ext cx="1065967" cy="1279208"/>
          </a:xfrm>
          <a:prstGeom prst="rect">
            <a:avLst/>
          </a:prstGeom>
        </p:spPr>
      </p:pic>
      <p:sp>
        <p:nvSpPr>
          <p:cNvPr id="5" name="Text 1"/>
          <p:cNvSpPr/>
          <p:nvPr/>
        </p:nvSpPr>
        <p:spPr>
          <a:xfrm>
            <a:off x="1159550" y="1729667"/>
            <a:ext cx="2664976" cy="333018"/>
          </a:xfrm>
          <a:prstGeom prst="rect">
            <a:avLst/>
          </a:prstGeom>
          <a:noFill/>
          <a:ln/>
        </p:spPr>
        <p:txBody>
          <a:bodyPr wrap="none" lIns="0" tIns="0" rIns="0" bIns="0" rtlCol="0" anchor="t"/>
          <a:lstStyle/>
          <a:p>
            <a:pPr marL="0" indent="0" algn="l">
              <a:lnSpc>
                <a:spcPts val="2600"/>
              </a:lnSpc>
              <a:buNone/>
            </a:pPr>
            <a:r>
              <a:rPr lang="en-US" sz="2050" b="1" u="sng" dirty="0">
                <a:solidFill>
                  <a:srgbClr val="A9F00F"/>
                </a:solidFill>
                <a:latin typeface="Syne Extra Bold" pitchFamily="34" charset="0"/>
                <a:ea typeface="Syne Extra Bold" pitchFamily="34" charset="-122"/>
                <a:cs typeface="Syne Extra Bold" pitchFamily="34" charset="-120"/>
                <a:hlinkClick r:id="rId4">
                  <a:extLst>
                    <a:ext uri="{A12FA001-AC4F-418D-AE19-62706E023703}">
                      <ahyp:hlinkClr xmlns:ahyp="http://schemas.microsoft.com/office/drawing/2018/hyperlinkcolor" val="tx"/>
                    </a:ext>
                  </a:extLst>
                </a:hlinkClick>
              </a:rPr>
              <a:t>LeetCode Profile</a:t>
            </a:r>
            <a:endParaRPr lang="en-US" sz="2050" dirty="0"/>
          </a:p>
        </p:txBody>
      </p:sp>
      <p:sp>
        <p:nvSpPr>
          <p:cNvPr id="6" name="Text 2"/>
          <p:cNvSpPr/>
          <p:nvPr/>
        </p:nvSpPr>
        <p:spPr>
          <a:xfrm>
            <a:off x="1159550" y="2203280"/>
            <a:ext cx="6265902" cy="341114"/>
          </a:xfrm>
          <a:prstGeom prst="rect">
            <a:avLst/>
          </a:prstGeom>
          <a:noFill/>
          <a:ln/>
        </p:spPr>
        <p:txBody>
          <a:bodyPr wrap="none" lIns="0" tIns="0" rIns="0" bIns="0" rtlCol="0" anchor="t"/>
          <a:lstStyle/>
          <a:p>
            <a:pPr marL="0" indent="0" algn="l">
              <a:lnSpc>
                <a:spcPts val="2650"/>
              </a:lnSpc>
              <a:buNone/>
            </a:pPr>
            <a:r>
              <a:rPr lang="en-US" sz="1650" dirty="0">
                <a:solidFill>
                  <a:srgbClr val="D7E5D8"/>
                </a:solidFill>
                <a:latin typeface="Syne" pitchFamily="34" charset="0"/>
                <a:ea typeface="Syne" pitchFamily="34" charset="-122"/>
                <a:cs typeface="Syne" pitchFamily="34" charset="-120"/>
              </a:rPr>
              <a:t>https://leetcode.com/u/shreeyanshjanu/.</a:t>
            </a:r>
            <a:endParaRPr lang="en-US" sz="1650" dirty="0"/>
          </a:p>
        </p:txBody>
      </p:sp>
      <p:sp>
        <p:nvSpPr>
          <p:cNvPr id="9" name="Text 4"/>
          <p:cNvSpPr/>
          <p:nvPr/>
        </p:nvSpPr>
        <p:spPr>
          <a:xfrm>
            <a:off x="2131933" y="3857506"/>
            <a:ext cx="6265902" cy="341114"/>
          </a:xfrm>
          <a:prstGeom prst="rect">
            <a:avLst/>
          </a:prstGeom>
          <a:noFill/>
          <a:ln/>
        </p:spPr>
        <p:txBody>
          <a:bodyPr wrap="none" lIns="0" tIns="0" rIns="0" bIns="0" rtlCol="0" anchor="t"/>
          <a:lstStyle/>
          <a:p>
            <a:pPr marL="0" indent="0" algn="l">
              <a:lnSpc>
                <a:spcPts val="2650"/>
              </a:lnSpc>
              <a:buNone/>
            </a:pPr>
            <a:endParaRPr lang="en-US" sz="1650" dirty="0"/>
          </a:p>
        </p:txBody>
      </p:sp>
      <p:sp>
        <p:nvSpPr>
          <p:cNvPr id="11" name="Text 5"/>
          <p:cNvSpPr/>
          <p:nvPr/>
        </p:nvSpPr>
        <p:spPr>
          <a:xfrm>
            <a:off x="2131933" y="4675823"/>
            <a:ext cx="3574971" cy="333018"/>
          </a:xfrm>
          <a:prstGeom prst="rect">
            <a:avLst/>
          </a:prstGeom>
          <a:noFill/>
          <a:ln/>
        </p:spPr>
        <p:txBody>
          <a:bodyPr wrap="none" lIns="0" tIns="0" rIns="0" bIns="0" rtlCol="0" anchor="t"/>
          <a:lstStyle/>
          <a:p>
            <a:pPr marL="0" indent="0" algn="l">
              <a:lnSpc>
                <a:spcPts val="2600"/>
              </a:lnSpc>
              <a:buNone/>
            </a:pPr>
            <a:endParaRPr lang="en-US" sz="2050" dirty="0"/>
          </a:p>
        </p:txBody>
      </p:sp>
      <p:sp>
        <p:nvSpPr>
          <p:cNvPr id="14" name="Text 7"/>
          <p:cNvSpPr/>
          <p:nvPr/>
        </p:nvSpPr>
        <p:spPr>
          <a:xfrm>
            <a:off x="2131933" y="5955030"/>
            <a:ext cx="3256717" cy="333018"/>
          </a:xfrm>
          <a:prstGeom prst="rect">
            <a:avLst/>
          </a:prstGeom>
          <a:noFill/>
          <a:ln/>
        </p:spPr>
        <p:txBody>
          <a:bodyPr wrap="none" lIns="0" tIns="0" rIns="0" bIns="0" rtlCol="0" anchor="t"/>
          <a:lstStyle/>
          <a:p>
            <a:pPr marL="0" indent="0" algn="l">
              <a:lnSpc>
                <a:spcPts val="2600"/>
              </a:lnSpc>
              <a:buNone/>
            </a:pPr>
            <a:endParaRPr lang="en-US" sz="2050" dirty="0"/>
          </a:p>
        </p:txBody>
      </p:sp>
      <p:sp>
        <p:nvSpPr>
          <p:cNvPr id="15" name="Text 8"/>
          <p:cNvSpPr/>
          <p:nvPr/>
        </p:nvSpPr>
        <p:spPr>
          <a:xfrm>
            <a:off x="2131933" y="6415921"/>
            <a:ext cx="6265902" cy="682228"/>
          </a:xfrm>
          <a:prstGeom prst="rect">
            <a:avLst/>
          </a:prstGeom>
          <a:noFill/>
          <a:ln/>
        </p:spPr>
        <p:txBody>
          <a:bodyPr wrap="square" lIns="0" tIns="0" rIns="0" bIns="0" rtlCol="0" anchor="t"/>
          <a:lstStyle/>
          <a:p>
            <a:pPr marL="0" indent="0" algn="l">
              <a:lnSpc>
                <a:spcPts val="2650"/>
              </a:lnSpc>
              <a:buNone/>
            </a:pPr>
            <a:endParaRPr lang="en-US" sz="1650" dirty="0"/>
          </a:p>
        </p:txBody>
      </p:sp>
      <p:pic>
        <p:nvPicPr>
          <p:cNvPr id="17" name="Picture 16">
            <a:extLst>
              <a:ext uri="{FF2B5EF4-FFF2-40B4-BE49-F238E27FC236}">
                <a16:creationId xmlns:a16="http://schemas.microsoft.com/office/drawing/2014/main" id="{7038745C-CB72-F15D-1847-307A1AE2FF1A}"/>
              </a:ext>
            </a:extLst>
          </p:cNvPr>
          <p:cNvPicPr>
            <a:picLocks noChangeAspect="1"/>
          </p:cNvPicPr>
          <p:nvPr/>
        </p:nvPicPr>
        <p:blipFill>
          <a:blip r:embed="rId5"/>
          <a:stretch>
            <a:fillRect/>
          </a:stretch>
        </p:blipFill>
        <p:spPr>
          <a:xfrm>
            <a:off x="5164282" y="0"/>
            <a:ext cx="9466118"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807654" y="7064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Cisco NetAcad Profile</a:t>
            </a:r>
            <a:endParaRPr lang="en-US" sz="4450" dirty="0"/>
          </a:p>
        </p:txBody>
      </p:sp>
      <p:sp>
        <p:nvSpPr>
          <p:cNvPr id="5" name="Text 2"/>
          <p:cNvSpPr/>
          <p:nvPr/>
        </p:nvSpPr>
        <p:spPr>
          <a:xfrm>
            <a:off x="6514624" y="3611047"/>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6" name="Shape 3"/>
          <p:cNvSpPr/>
          <p:nvPr/>
        </p:nvSpPr>
        <p:spPr>
          <a:xfrm>
            <a:off x="10254994" y="3590714"/>
            <a:ext cx="3664863" cy="1322189"/>
          </a:xfrm>
          <a:prstGeom prst="roundRect">
            <a:avLst>
              <a:gd name="adj" fmla="val 7205"/>
            </a:avLst>
          </a:prstGeom>
          <a:solidFill>
            <a:srgbClr val="547808"/>
          </a:solidFill>
          <a:ln w="7620">
            <a:solidFill>
              <a:srgbClr val="6D9121"/>
            </a:solidFill>
            <a:prstDash val="solid"/>
          </a:ln>
        </p:spPr>
      </p:sp>
      <p:sp>
        <p:nvSpPr>
          <p:cNvPr id="7" name="Text 4"/>
          <p:cNvSpPr/>
          <p:nvPr/>
        </p:nvSpPr>
        <p:spPr>
          <a:xfrm>
            <a:off x="10406301" y="36110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Syne Extra Bold" pitchFamily="34" charset="0"/>
                <a:ea typeface="Syne Extra Bold" pitchFamily="34" charset="-122"/>
                <a:cs typeface="Syne Extra Bold" pitchFamily="34" charset="-120"/>
              </a:rPr>
              <a:t>Certificates</a:t>
            </a:r>
            <a:endParaRPr lang="en-US" sz="2200" dirty="0"/>
          </a:p>
        </p:txBody>
      </p:sp>
      <p:sp>
        <p:nvSpPr>
          <p:cNvPr id="8" name="Text 5"/>
          <p:cNvSpPr/>
          <p:nvPr/>
        </p:nvSpPr>
        <p:spPr>
          <a:xfrm>
            <a:off x="10406301" y="4101465"/>
            <a:ext cx="3195995"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Syne" pitchFamily="34" charset="0"/>
                <a:ea typeface="Syne" pitchFamily="34" charset="-122"/>
                <a:cs typeface="Syne" pitchFamily="34" charset="-120"/>
              </a:rPr>
              <a:t>Networking fundamentals + </a:t>
            </a:r>
            <a:r>
              <a:rPr lang="en-US" sz="1750" dirty="0" err="1">
                <a:solidFill>
                  <a:srgbClr val="FFFFFF"/>
                </a:solidFill>
                <a:latin typeface="Syne" pitchFamily="34" charset="0"/>
                <a:ea typeface="Syne" pitchFamily="34" charset="-122"/>
                <a:cs typeface="Syne" pitchFamily="34" charset="-120"/>
              </a:rPr>
              <a:t>introdu</a:t>
            </a:r>
            <a:endParaRPr lang="en-US" sz="1750" dirty="0">
              <a:solidFill>
                <a:srgbClr val="FFFFFF"/>
              </a:solidFill>
              <a:latin typeface="Syne" pitchFamily="34" charset="0"/>
              <a:ea typeface="Syne" pitchFamily="34" charset="-122"/>
              <a:cs typeface="Syne" pitchFamily="34" charset="-120"/>
            </a:endParaRPr>
          </a:p>
          <a:p>
            <a:pPr marL="0" indent="0" algn="l">
              <a:lnSpc>
                <a:spcPts val="2850"/>
              </a:lnSpc>
              <a:buNone/>
            </a:pPr>
            <a:r>
              <a:rPr lang="en-US" sz="1750" dirty="0" err="1">
                <a:solidFill>
                  <a:srgbClr val="FFFFFF"/>
                </a:solidFill>
                <a:latin typeface="Syne" pitchFamily="34" charset="0"/>
                <a:ea typeface="Syne" pitchFamily="34" charset="-122"/>
                <a:cs typeface="Syne" pitchFamily="34" charset="-120"/>
              </a:rPr>
              <a:t>Ction</a:t>
            </a:r>
            <a:r>
              <a:rPr lang="en-US" sz="1750" dirty="0">
                <a:solidFill>
                  <a:srgbClr val="FFFFFF"/>
                </a:solidFill>
                <a:latin typeface="Syne" pitchFamily="34" charset="0"/>
                <a:ea typeface="Syne" pitchFamily="34" charset="-122"/>
                <a:cs typeface="Syne" pitchFamily="34" charset="-120"/>
              </a:rPr>
              <a:t> to cybersecurity.</a:t>
            </a:r>
            <a:endParaRPr lang="en-US" sz="1750" dirty="0"/>
          </a:p>
        </p:txBody>
      </p:sp>
      <p:sp>
        <p:nvSpPr>
          <p:cNvPr id="10" name="Text 7"/>
          <p:cNvSpPr/>
          <p:nvPr/>
        </p:nvSpPr>
        <p:spPr>
          <a:xfrm>
            <a:off x="6514624" y="516005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1" name="Text 8"/>
          <p:cNvSpPr/>
          <p:nvPr/>
        </p:nvSpPr>
        <p:spPr>
          <a:xfrm>
            <a:off x="6514624" y="5650468"/>
            <a:ext cx="7087553" cy="725805"/>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13" name="Picture 12">
            <a:extLst>
              <a:ext uri="{FF2B5EF4-FFF2-40B4-BE49-F238E27FC236}">
                <a16:creationId xmlns:a16="http://schemas.microsoft.com/office/drawing/2014/main" id="{067E6404-86C3-D7EF-07CA-316D062E8332}"/>
              </a:ext>
            </a:extLst>
          </p:cNvPr>
          <p:cNvPicPr>
            <a:picLocks noChangeAspect="1"/>
          </p:cNvPicPr>
          <p:nvPr/>
        </p:nvPicPr>
        <p:blipFill>
          <a:blip r:embed="rId3"/>
          <a:stretch>
            <a:fillRect/>
          </a:stretch>
        </p:blipFill>
        <p:spPr>
          <a:xfrm>
            <a:off x="0" y="0"/>
            <a:ext cx="7807654"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148</Words>
  <Application>Microsoft Office PowerPoint</Application>
  <PresentationFormat>Custom</PresentationFormat>
  <Paragraphs>27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Syne Extra Bold</vt:lpstr>
      <vt:lpstr>Syne Bold</vt:lpstr>
      <vt:lpstr>Arial</vt:lpstr>
      <vt:lpstr>Syne</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shreeyansh janu</cp:lastModifiedBy>
  <cp:revision>2</cp:revision>
  <dcterms:created xsi:type="dcterms:W3CDTF">2025-03-22T00:59:50Z</dcterms:created>
  <dcterms:modified xsi:type="dcterms:W3CDTF">2025-03-22T01:19:20Z</dcterms:modified>
</cp:coreProperties>
</file>